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9" r:id="rId10"/>
    <p:sldId id="263" r:id="rId11"/>
    <p:sldId id="268" r:id="rId12"/>
    <p:sldId id="264" r:id="rId13"/>
    <p:sldId id="265" r:id="rId14"/>
    <p:sldId id="266" r:id="rId15"/>
    <p:sldId id="267" r:id="rId1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199895"/>
            <a:ext cx="321246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A3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303995" y="0"/>
            <a:ext cx="2304415" cy="140335"/>
          </a:xfrm>
          <a:custGeom>
            <a:avLst/>
            <a:gdLst/>
            <a:ahLst/>
            <a:cxnLst/>
            <a:rect l="l" t="t" r="r" b="b"/>
            <a:pathLst>
              <a:path w="2304415" h="140335">
                <a:moveTo>
                  <a:pt x="2303995" y="0"/>
                </a:moveTo>
                <a:lnTo>
                  <a:pt x="0" y="0"/>
                </a:lnTo>
                <a:lnTo>
                  <a:pt x="0" y="140017"/>
                </a:lnTo>
                <a:lnTo>
                  <a:pt x="2303995" y="140017"/>
                </a:lnTo>
                <a:lnTo>
                  <a:pt x="230399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99895"/>
            <a:ext cx="235712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81378"/>
            <a:ext cx="3883660" cy="1720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71" y="3351784"/>
            <a:ext cx="25463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slide" Target="slid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slide" Target="slide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5" Type="http://schemas.openxmlformats.org/officeDocument/2006/relationships/slide" Target="slide15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8544" y="912385"/>
            <a:ext cx="4432935" cy="65849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767839" marR="194310" indent="-1667510">
              <a:lnSpc>
                <a:spcPct val="106700"/>
              </a:lnSpc>
              <a:spcBef>
                <a:spcPts val="330"/>
              </a:spcBef>
            </a:pPr>
            <a:r>
              <a:rPr spc="-10" dirty="0"/>
              <a:t>Facial</a:t>
            </a:r>
            <a:r>
              <a:rPr spc="10" dirty="0"/>
              <a:t> </a:t>
            </a:r>
            <a:r>
              <a:rPr spc="-10" dirty="0"/>
              <a:t>Emotion</a:t>
            </a:r>
            <a:r>
              <a:rPr spc="15" dirty="0"/>
              <a:t> </a:t>
            </a:r>
            <a:r>
              <a:rPr spc="-35" dirty="0"/>
              <a:t>Recognition</a:t>
            </a:r>
            <a:r>
              <a:rPr spc="15" dirty="0"/>
              <a:t> </a:t>
            </a:r>
            <a:r>
              <a:rPr spc="-55" dirty="0"/>
              <a:t>using</a:t>
            </a:r>
            <a:r>
              <a:rPr spc="15" dirty="0"/>
              <a:t> </a:t>
            </a:r>
            <a:r>
              <a:rPr dirty="0"/>
              <a:t>CNN,</a:t>
            </a:r>
            <a:r>
              <a:rPr spc="10" dirty="0"/>
              <a:t> </a:t>
            </a:r>
            <a:r>
              <a:rPr dirty="0"/>
              <a:t>HOG-CNN</a:t>
            </a:r>
            <a:r>
              <a:rPr spc="15" dirty="0"/>
              <a:t> </a:t>
            </a:r>
            <a:r>
              <a:rPr spc="-25" dirty="0"/>
              <a:t>and </a:t>
            </a:r>
            <a:r>
              <a:rPr dirty="0"/>
              <a:t>SIFT-</a:t>
            </a:r>
            <a:r>
              <a:rPr spc="-25" dirty="0"/>
              <a:t>CNN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0" y="1730081"/>
            <a:ext cx="4610100" cy="97077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 MT"/>
                <a:cs typeface="Arial MT"/>
              </a:rPr>
              <a:t>Kartik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Srivastava</a:t>
            </a:r>
            <a:r>
              <a:rPr lang="en-IN" sz="1100" spc="-10" dirty="0">
                <a:latin typeface="Arial MT"/>
                <a:cs typeface="Arial MT"/>
              </a:rPr>
              <a:t> – 2024dss1008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IN" sz="1100" spc="-10" dirty="0">
                <a:latin typeface="Arial MT"/>
                <a:cs typeface="Arial MT"/>
              </a:rPr>
              <a:t>Devipriya A – 2024dss1005</a:t>
            </a:r>
            <a:endParaRPr sz="11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25"/>
              </a:spcBef>
            </a:pPr>
            <a:r>
              <a:rPr sz="800" dirty="0">
                <a:latin typeface="Arial MT"/>
                <a:cs typeface="Arial MT"/>
              </a:rPr>
              <a:t>MSDSM</a:t>
            </a:r>
            <a:r>
              <a:rPr lang="en-IN" sz="800" dirty="0">
                <a:latin typeface="Arial MT"/>
                <a:cs typeface="Arial MT"/>
              </a:rPr>
              <a:t>-02</a:t>
            </a:r>
            <a:r>
              <a:rPr sz="800" dirty="0">
                <a:latin typeface="Arial MT"/>
                <a:cs typeface="Arial MT"/>
              </a:rPr>
              <a:t>,</a:t>
            </a:r>
            <a:r>
              <a:rPr sz="800" spc="1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IIM</a:t>
            </a:r>
            <a:r>
              <a:rPr sz="800" spc="1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Amritsar</a:t>
            </a:r>
            <a:endParaRPr sz="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8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100" spc="-20" dirty="0">
                <a:latin typeface="Arial MT"/>
                <a:cs typeface="Arial MT"/>
              </a:rPr>
              <a:t>2025</a:t>
            </a:r>
            <a:endParaRPr sz="1100" dirty="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2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Motivation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06483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34290">
              <a:lnSpc>
                <a:spcPct val="102600"/>
              </a:lnSpc>
              <a:spcBef>
                <a:spcPts val="55"/>
              </a:spcBef>
            </a:pPr>
            <a:r>
              <a:rPr spc="-65" dirty="0"/>
              <a:t>FER</a:t>
            </a:r>
            <a:r>
              <a:rPr spc="-10" dirty="0"/>
              <a:t> is</a:t>
            </a:r>
            <a:r>
              <a:rPr spc="-15" dirty="0"/>
              <a:t> </a:t>
            </a:r>
            <a:r>
              <a:rPr spc="-35" dirty="0"/>
              <a:t>widely</a:t>
            </a:r>
            <a:r>
              <a:rPr spc="-5" dirty="0"/>
              <a:t> </a:t>
            </a:r>
            <a:r>
              <a:rPr spc="-85" dirty="0"/>
              <a:t>used</a:t>
            </a:r>
            <a:r>
              <a:rPr spc="10" dirty="0"/>
              <a:t> </a:t>
            </a:r>
            <a:r>
              <a:rPr dirty="0"/>
              <a:t>in </a:t>
            </a:r>
            <a:r>
              <a:rPr spc="-45" dirty="0"/>
              <a:t>healthcare,</a:t>
            </a:r>
            <a:r>
              <a:rPr spc="-5" dirty="0"/>
              <a:t> </a:t>
            </a:r>
            <a:r>
              <a:rPr spc="-45" dirty="0"/>
              <a:t>security,</a:t>
            </a:r>
            <a:r>
              <a:rPr spc="-5" dirty="0"/>
              <a:t> </a:t>
            </a:r>
            <a:r>
              <a:rPr spc="-35" dirty="0"/>
              <a:t>education,</a:t>
            </a:r>
            <a:r>
              <a:rPr spc="-5" dirty="0"/>
              <a:t> </a:t>
            </a:r>
            <a:r>
              <a:rPr spc="-35" dirty="0"/>
              <a:t>gaming,</a:t>
            </a:r>
            <a:r>
              <a:rPr spc="-5" dirty="0"/>
              <a:t> </a:t>
            </a:r>
            <a:r>
              <a:rPr spc="-25" dirty="0"/>
              <a:t>and </a:t>
            </a:r>
            <a:r>
              <a:rPr spc="-20" dirty="0"/>
              <a:t>HCI.</a:t>
            </a: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pc="-75" dirty="0"/>
              <a:t>Deep</a:t>
            </a:r>
            <a:r>
              <a:rPr dirty="0"/>
              <a:t> </a:t>
            </a:r>
            <a:r>
              <a:rPr spc="-65" dirty="0"/>
              <a:t>CNNs</a:t>
            </a:r>
            <a:r>
              <a:rPr spc="-10" dirty="0"/>
              <a:t> </a:t>
            </a:r>
            <a:r>
              <a:rPr spc="-25" dirty="0"/>
              <a:t>work</a:t>
            </a:r>
            <a:r>
              <a:rPr spc="-40" dirty="0"/>
              <a:t> </a:t>
            </a:r>
            <a:r>
              <a:rPr spc="-25" dirty="0"/>
              <a:t>well</a:t>
            </a:r>
            <a:r>
              <a:rPr spc="-20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40" dirty="0"/>
              <a:t>large,</a:t>
            </a:r>
            <a:r>
              <a:rPr spc="-15" dirty="0"/>
              <a:t> </a:t>
            </a:r>
            <a:r>
              <a:rPr spc="-45" dirty="0"/>
              <a:t>noisy</a:t>
            </a:r>
            <a:r>
              <a:rPr spc="-20" dirty="0"/>
              <a:t> </a:t>
            </a:r>
            <a:r>
              <a:rPr spc="-50" dirty="0"/>
              <a:t>datasets</a:t>
            </a:r>
            <a:r>
              <a:rPr spc="-15" dirty="0"/>
              <a:t> </a:t>
            </a:r>
            <a:r>
              <a:rPr spc="-10" dirty="0"/>
              <a:t>(FER2013).</a:t>
            </a:r>
          </a:p>
          <a:p>
            <a:pPr marL="12700" marR="89535">
              <a:lnSpc>
                <a:spcPct val="102600"/>
              </a:lnSpc>
              <a:spcBef>
                <a:spcPts val="300"/>
              </a:spcBef>
            </a:pPr>
            <a:r>
              <a:rPr spc="-35" dirty="0"/>
              <a:t>Handcrafted</a:t>
            </a:r>
            <a:r>
              <a:rPr spc="-25" dirty="0"/>
              <a:t> </a:t>
            </a:r>
            <a:r>
              <a:rPr spc="-40" dirty="0"/>
              <a:t>features</a:t>
            </a:r>
            <a:r>
              <a:rPr spc="-10" dirty="0"/>
              <a:t> (HOG,</a:t>
            </a:r>
            <a:r>
              <a:rPr spc="-5" dirty="0"/>
              <a:t> </a:t>
            </a:r>
            <a:r>
              <a:rPr dirty="0"/>
              <a:t>SIFT)</a:t>
            </a:r>
            <a:r>
              <a:rPr spc="-10" dirty="0"/>
              <a:t> </a:t>
            </a:r>
            <a:r>
              <a:rPr spc="-30" dirty="0"/>
              <a:t>capture</a:t>
            </a:r>
            <a:r>
              <a:rPr spc="-5" dirty="0"/>
              <a:t> </a:t>
            </a:r>
            <a:r>
              <a:rPr spc="-40" dirty="0"/>
              <a:t>gradients,</a:t>
            </a:r>
            <a:r>
              <a:rPr spc="-10" dirty="0"/>
              <a:t> </a:t>
            </a:r>
            <a:r>
              <a:rPr spc="-85" dirty="0"/>
              <a:t>edges,</a:t>
            </a:r>
            <a:r>
              <a:rPr spc="10" dirty="0"/>
              <a:t> </a:t>
            </a:r>
            <a:r>
              <a:rPr spc="-25" dirty="0"/>
              <a:t>and </a:t>
            </a:r>
            <a:r>
              <a:rPr spc="-20" dirty="0"/>
              <a:t>local</a:t>
            </a:r>
            <a:r>
              <a:rPr spc="-35" dirty="0"/>
              <a:t> </a:t>
            </a:r>
            <a:r>
              <a:rPr spc="-20" dirty="0"/>
              <a:t>facial</a:t>
            </a:r>
            <a:r>
              <a:rPr spc="-30" dirty="0"/>
              <a:t> </a:t>
            </a:r>
            <a:r>
              <a:rPr spc="-10" dirty="0"/>
              <a:t>geometry.</a:t>
            </a:r>
          </a:p>
          <a:p>
            <a:pPr marL="12700" marR="5080">
              <a:lnSpc>
                <a:spcPct val="102699"/>
              </a:lnSpc>
              <a:spcBef>
                <a:spcPts val="295"/>
              </a:spcBef>
            </a:pPr>
            <a:r>
              <a:rPr spc="-30" dirty="0"/>
              <a:t>Small</a:t>
            </a:r>
            <a:r>
              <a:rPr spc="-10" dirty="0"/>
              <a:t> </a:t>
            </a:r>
            <a:r>
              <a:rPr spc="-50" dirty="0"/>
              <a:t>datasets</a:t>
            </a:r>
            <a:r>
              <a:rPr spc="-5" dirty="0"/>
              <a:t> </a:t>
            </a:r>
            <a:r>
              <a:rPr spc="-10" dirty="0"/>
              <a:t>like</a:t>
            </a:r>
            <a:r>
              <a:rPr spc="-5" dirty="0"/>
              <a:t> </a:t>
            </a:r>
            <a:r>
              <a:rPr spc="-65" dirty="0"/>
              <a:t>CK-</a:t>
            </a:r>
            <a:r>
              <a:rPr spc="-45" dirty="0"/>
              <a:t>Extended</a:t>
            </a:r>
            <a:r>
              <a:rPr spc="-5" dirty="0"/>
              <a:t> </a:t>
            </a:r>
            <a:r>
              <a:rPr spc="-20" dirty="0"/>
              <a:t>benefit</a:t>
            </a:r>
            <a:r>
              <a:rPr spc="-10" dirty="0"/>
              <a:t> </a:t>
            </a:r>
            <a:r>
              <a:rPr dirty="0"/>
              <a:t>from</a:t>
            </a:r>
            <a:r>
              <a:rPr spc="-5" dirty="0"/>
              <a:t> </a:t>
            </a:r>
            <a:r>
              <a:rPr spc="-40" dirty="0"/>
              <a:t>handcrafted</a:t>
            </a:r>
            <a:r>
              <a:rPr spc="-5" dirty="0"/>
              <a:t> </a:t>
            </a:r>
            <a:r>
              <a:rPr spc="200" dirty="0"/>
              <a:t>+</a:t>
            </a:r>
            <a:r>
              <a:rPr spc="-5" dirty="0"/>
              <a:t> </a:t>
            </a:r>
            <a:r>
              <a:rPr spc="-25" dirty="0"/>
              <a:t>CNN hybrid </a:t>
            </a:r>
            <a:r>
              <a:rPr spc="-10" dirty="0"/>
              <a:t>models.</a:t>
            </a:r>
          </a:p>
          <a:p>
            <a:pPr marL="12700" marR="403225">
              <a:lnSpc>
                <a:spcPct val="102600"/>
              </a:lnSpc>
              <a:spcBef>
                <a:spcPts val="300"/>
              </a:spcBef>
            </a:pPr>
            <a:r>
              <a:rPr spc="-30" dirty="0"/>
              <a:t>Goal:</a:t>
            </a:r>
            <a:r>
              <a:rPr spc="55" dirty="0"/>
              <a:t> </a:t>
            </a:r>
            <a:r>
              <a:rPr dirty="0"/>
              <a:t>Build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spc="-25" dirty="0"/>
              <a:t>unified</a:t>
            </a:r>
            <a:r>
              <a:rPr spc="-10" dirty="0"/>
              <a:t> </a:t>
            </a:r>
            <a:r>
              <a:rPr spc="-65" dirty="0"/>
              <a:t>FER</a:t>
            </a:r>
            <a:r>
              <a:rPr spc="-10" dirty="0"/>
              <a:t> </a:t>
            </a:r>
            <a:r>
              <a:rPr spc="-65" dirty="0"/>
              <a:t>system</a:t>
            </a:r>
            <a:r>
              <a:rPr spc="-10" dirty="0"/>
              <a:t> </a:t>
            </a:r>
            <a:r>
              <a:rPr spc="-40" dirty="0"/>
              <a:t>combining</a:t>
            </a:r>
            <a:r>
              <a:rPr spc="-15" dirty="0"/>
              <a:t> </a:t>
            </a:r>
            <a:r>
              <a:rPr dirty="0"/>
              <a:t>both</a:t>
            </a:r>
            <a:r>
              <a:rPr spc="-10" dirty="0"/>
              <a:t> </a:t>
            </a:r>
            <a:r>
              <a:rPr spc="-80" dirty="0"/>
              <a:t>deep</a:t>
            </a:r>
            <a:r>
              <a:rPr spc="5" dirty="0"/>
              <a:t> </a:t>
            </a:r>
            <a:r>
              <a:rPr spc="-25" dirty="0"/>
              <a:t>and </a:t>
            </a:r>
            <a:r>
              <a:rPr spc="-40" dirty="0"/>
              <a:t>handcrafted</a:t>
            </a:r>
            <a:r>
              <a:rPr spc="30" dirty="0"/>
              <a:t> </a:t>
            </a:r>
            <a:r>
              <a:rPr spc="-10" dirty="0"/>
              <a:t>features.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4693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56969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39073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421178"/>
            <a:ext cx="65265" cy="65265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7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7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35" dirty="0"/>
              <a:t> </a:t>
            </a:r>
            <a:r>
              <a:rPr spc="-30" dirty="0"/>
              <a:t>Statement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45285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2739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17179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2006993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158822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310650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7439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pc="-65" dirty="0"/>
              <a:t>FER2013</a:t>
            </a:r>
            <a:r>
              <a:rPr spc="5" dirty="0"/>
              <a:t> </a:t>
            </a:r>
            <a:r>
              <a:rPr spc="-75" dirty="0"/>
              <a:t>images</a:t>
            </a:r>
            <a:r>
              <a:rPr spc="10" dirty="0"/>
              <a:t> </a:t>
            </a:r>
            <a:r>
              <a:rPr spc="-60" dirty="0"/>
              <a:t>are</a:t>
            </a:r>
            <a:r>
              <a:rPr spc="10" dirty="0"/>
              <a:t> </a:t>
            </a:r>
            <a:r>
              <a:rPr spc="-55" dirty="0"/>
              <a:t>low-</a:t>
            </a:r>
            <a:r>
              <a:rPr spc="-35" dirty="0"/>
              <a:t>resolution</a:t>
            </a:r>
            <a:r>
              <a:rPr spc="10" dirty="0"/>
              <a:t> </a:t>
            </a:r>
            <a:r>
              <a:rPr spc="-45" dirty="0"/>
              <a:t>and</a:t>
            </a:r>
            <a:r>
              <a:rPr spc="10" dirty="0"/>
              <a:t> </a:t>
            </a:r>
            <a:r>
              <a:rPr spc="-45" dirty="0"/>
              <a:t>noisy</a:t>
            </a:r>
            <a:r>
              <a:rPr spc="10" dirty="0"/>
              <a:t> </a:t>
            </a:r>
            <a:r>
              <a:rPr dirty="0">
                <a:latin typeface="Lucida Sans Unicode"/>
                <a:cs typeface="Lucida Sans Unicode"/>
              </a:rPr>
              <a:t>→</a:t>
            </a:r>
            <a:r>
              <a:rPr spc="-35" dirty="0">
                <a:latin typeface="Lucida Sans Unicode"/>
                <a:cs typeface="Lucida Sans Unicode"/>
              </a:rPr>
              <a:t> </a:t>
            </a:r>
            <a:r>
              <a:rPr spc="-20" dirty="0"/>
              <a:t>CNN</a:t>
            </a:r>
            <a:r>
              <a:rPr spc="10" dirty="0"/>
              <a:t> </a:t>
            </a:r>
            <a:r>
              <a:rPr spc="-50" dirty="0"/>
              <a:t>struggles</a:t>
            </a:r>
            <a:r>
              <a:rPr spc="10" dirty="0"/>
              <a:t> </a:t>
            </a:r>
            <a:r>
              <a:rPr spc="-25" dirty="0"/>
              <a:t>to </a:t>
            </a:r>
            <a:r>
              <a:rPr spc="-45" dirty="0"/>
              <a:t>learn</a:t>
            </a:r>
            <a:r>
              <a:rPr spc="-30" dirty="0"/>
              <a:t> </a:t>
            </a:r>
            <a:r>
              <a:rPr spc="-10" dirty="0"/>
              <a:t>fine</a:t>
            </a:r>
            <a:r>
              <a:rPr spc="-50" dirty="0"/>
              <a:t> </a:t>
            </a:r>
            <a:r>
              <a:rPr spc="-20" dirty="0"/>
              <a:t>facial</a:t>
            </a:r>
            <a:r>
              <a:rPr spc="-35" dirty="0"/>
              <a:t> </a:t>
            </a:r>
            <a:r>
              <a:rPr spc="-10" dirty="0"/>
              <a:t>details.</a:t>
            </a:r>
          </a:p>
          <a:p>
            <a:pPr marL="12700" marR="834390">
              <a:lnSpc>
                <a:spcPct val="113199"/>
              </a:lnSpc>
              <a:spcBef>
                <a:spcPts val="160"/>
              </a:spcBef>
            </a:pPr>
            <a:r>
              <a:rPr spc="-65" dirty="0"/>
              <a:t>CK-</a:t>
            </a:r>
            <a:r>
              <a:rPr spc="-45" dirty="0"/>
              <a:t>Extended</a:t>
            </a:r>
            <a:r>
              <a:rPr spc="-10" dirty="0"/>
              <a:t> is</a:t>
            </a:r>
            <a:r>
              <a:rPr spc="-5" dirty="0"/>
              <a:t> </a:t>
            </a:r>
            <a:r>
              <a:rPr spc="-35" dirty="0"/>
              <a:t>small</a:t>
            </a:r>
            <a:r>
              <a:rPr spc="-5" dirty="0"/>
              <a:t> </a:t>
            </a:r>
            <a:r>
              <a:rPr dirty="0">
                <a:latin typeface="Lucida Sans Unicode"/>
                <a:cs typeface="Lucida Sans Unicode"/>
              </a:rPr>
              <a:t>→</a:t>
            </a:r>
            <a:r>
              <a:rPr spc="-50" dirty="0">
                <a:latin typeface="Lucida Sans Unicode"/>
                <a:cs typeface="Lucida Sans Unicode"/>
              </a:rPr>
              <a:t> </a:t>
            </a:r>
            <a:r>
              <a:rPr spc="-35" dirty="0"/>
              <a:t>pure</a:t>
            </a:r>
            <a:r>
              <a:rPr spc="-5" dirty="0"/>
              <a:t> </a:t>
            </a:r>
            <a:r>
              <a:rPr spc="-20" dirty="0"/>
              <a:t>CNN</a:t>
            </a:r>
            <a:r>
              <a:rPr spc="-10" dirty="0"/>
              <a:t> </a:t>
            </a:r>
            <a:r>
              <a:rPr spc="-45" dirty="0"/>
              <a:t>risks</a:t>
            </a:r>
            <a:r>
              <a:rPr spc="-5" dirty="0"/>
              <a:t> </a:t>
            </a:r>
            <a:r>
              <a:rPr spc="-10" dirty="0"/>
              <a:t>overfitting. </a:t>
            </a:r>
            <a:r>
              <a:rPr spc="-75" dirty="0"/>
              <a:t>Need</a:t>
            </a:r>
            <a:r>
              <a:rPr dirty="0"/>
              <a:t> a</a:t>
            </a:r>
            <a:r>
              <a:rPr spc="-40" dirty="0"/>
              <a:t> </a:t>
            </a:r>
            <a:r>
              <a:rPr spc="-25" dirty="0"/>
              <a:t>hybrid</a:t>
            </a:r>
            <a:r>
              <a:rPr spc="-20" dirty="0"/>
              <a:t> </a:t>
            </a:r>
            <a:r>
              <a:rPr spc="-25" dirty="0"/>
              <a:t>method</a:t>
            </a:r>
            <a:r>
              <a:rPr spc="-20" dirty="0"/>
              <a:t> </a:t>
            </a:r>
            <a:r>
              <a:rPr spc="-25" dirty="0"/>
              <a:t>to:</a:t>
            </a:r>
          </a:p>
          <a:p>
            <a:pPr marL="289560" marR="1095375">
              <a:lnSpc>
                <a:spcPct val="100000"/>
              </a:lnSpc>
              <a:spcBef>
                <a:spcPts val="175"/>
              </a:spcBef>
            </a:pPr>
            <a:r>
              <a:rPr sz="1000" dirty="0"/>
              <a:t>Extract</a:t>
            </a:r>
            <a:r>
              <a:rPr sz="1000" spc="-25" dirty="0"/>
              <a:t> </a:t>
            </a:r>
            <a:r>
              <a:rPr sz="1000" spc="-30" dirty="0"/>
              <a:t>useful</a:t>
            </a:r>
            <a:r>
              <a:rPr sz="1000" spc="-20" dirty="0"/>
              <a:t> gradients</a:t>
            </a:r>
            <a:r>
              <a:rPr sz="1000" spc="229" dirty="0"/>
              <a:t> </a:t>
            </a:r>
            <a:r>
              <a:rPr sz="1000" spc="-25" dirty="0"/>
              <a:t>textures</a:t>
            </a:r>
            <a:r>
              <a:rPr sz="1000" spc="-20" dirty="0"/>
              <a:t> </a:t>
            </a:r>
            <a:r>
              <a:rPr sz="1000" spc="-10" dirty="0"/>
              <a:t>(HOG/SIFT) </a:t>
            </a:r>
            <a:r>
              <a:rPr sz="1000" spc="-90" dirty="0"/>
              <a:t>Use</a:t>
            </a:r>
            <a:r>
              <a:rPr sz="1000" spc="20" dirty="0"/>
              <a:t> </a:t>
            </a:r>
            <a:r>
              <a:rPr sz="1000" spc="-10" dirty="0"/>
              <a:t>CNN </a:t>
            </a:r>
            <a:r>
              <a:rPr sz="1000" dirty="0"/>
              <a:t>to </a:t>
            </a:r>
            <a:r>
              <a:rPr sz="1000" spc="-30" dirty="0"/>
              <a:t>learn</a:t>
            </a:r>
            <a:r>
              <a:rPr sz="1000" spc="10" dirty="0"/>
              <a:t> </a:t>
            </a:r>
            <a:r>
              <a:rPr sz="1000" spc="-45" dirty="0"/>
              <a:t>high-</a:t>
            </a:r>
            <a:r>
              <a:rPr sz="1000" spc="-20" dirty="0"/>
              <a:t>level</a:t>
            </a:r>
            <a:r>
              <a:rPr sz="1000" dirty="0"/>
              <a:t> </a:t>
            </a:r>
            <a:r>
              <a:rPr sz="1000" spc="-10" dirty="0"/>
              <a:t>structure</a:t>
            </a:r>
            <a:endParaRPr sz="1000"/>
          </a:p>
          <a:p>
            <a:pPr marL="289560">
              <a:lnSpc>
                <a:spcPts val="1190"/>
              </a:lnSpc>
            </a:pPr>
            <a:r>
              <a:rPr sz="1000" spc="-40" dirty="0"/>
              <a:t>Achieve</a:t>
            </a:r>
            <a:r>
              <a:rPr sz="1000" spc="-20" dirty="0"/>
              <a:t> strong </a:t>
            </a:r>
            <a:r>
              <a:rPr sz="1000" spc="-45" dirty="0"/>
              <a:t>accuracy</a:t>
            </a:r>
            <a:r>
              <a:rPr sz="1000" spc="-20" dirty="0"/>
              <a:t> </a:t>
            </a:r>
            <a:r>
              <a:rPr sz="1000" dirty="0"/>
              <a:t>on</a:t>
            </a:r>
            <a:r>
              <a:rPr sz="1000" spc="-20" dirty="0"/>
              <a:t> </a:t>
            </a:r>
            <a:r>
              <a:rPr sz="1000" dirty="0"/>
              <a:t>both</a:t>
            </a:r>
            <a:r>
              <a:rPr sz="1000" spc="-20" dirty="0"/>
              <a:t> </a:t>
            </a:r>
            <a:r>
              <a:rPr sz="1000" spc="-10" dirty="0"/>
              <a:t>small</a:t>
            </a:r>
            <a:r>
              <a:rPr sz="1000" spc="240" dirty="0"/>
              <a:t> </a:t>
            </a:r>
            <a:r>
              <a:rPr sz="1000" spc="-35" dirty="0"/>
              <a:t>large</a:t>
            </a:r>
            <a:r>
              <a:rPr sz="1000" spc="-15" dirty="0"/>
              <a:t> </a:t>
            </a:r>
            <a:r>
              <a:rPr sz="1000" spc="-10" dirty="0"/>
              <a:t>datasets</a:t>
            </a:r>
            <a:endParaRPr sz="1000"/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8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199895"/>
            <a:ext cx="10896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Datasets</a:t>
            </a:r>
            <a:r>
              <a:rPr spc="-55" dirty="0"/>
              <a:t> </a:t>
            </a:r>
            <a:r>
              <a:rPr spc="-35" dirty="0"/>
              <a:t>Used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6151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7154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8158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101646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089" y="2311679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521712"/>
            <a:ext cx="65265" cy="6526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25844" y="924252"/>
            <a:ext cx="2434590" cy="17062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FER2013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Arial MT"/>
                <a:cs typeface="Arial MT"/>
              </a:rPr>
              <a:t>48</a:t>
            </a:r>
            <a:r>
              <a:rPr sz="1100" spc="-45" dirty="0">
                <a:latin typeface="Lucida Sans Unicode"/>
                <a:cs typeface="Lucida Sans Unicode"/>
              </a:rPr>
              <a:t>×</a:t>
            </a:r>
            <a:r>
              <a:rPr sz="1100" spc="-45" dirty="0">
                <a:latin typeface="Arial MT"/>
                <a:cs typeface="Arial MT"/>
              </a:rPr>
              <a:t>48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grayscale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1100" dirty="0">
                <a:latin typeface="Arial MT"/>
                <a:cs typeface="Arial MT"/>
              </a:rPr>
              <a:t>35k+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images,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7</a:t>
            </a:r>
            <a:r>
              <a:rPr sz="1100" spc="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emotions</a:t>
            </a:r>
            <a:endParaRPr sz="1100">
              <a:latin typeface="Arial MT"/>
              <a:cs typeface="Arial MT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1100" spc="-65" dirty="0">
                <a:latin typeface="Arial MT"/>
                <a:cs typeface="Arial MT"/>
              </a:rPr>
              <a:t>Real-</a:t>
            </a:r>
            <a:r>
              <a:rPr sz="1100" spc="-30" dirty="0">
                <a:latin typeface="Arial MT"/>
                <a:cs typeface="Arial MT"/>
              </a:rPr>
              <a:t>world,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noisy,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in-the-</a:t>
            </a:r>
            <a:r>
              <a:rPr sz="1100" dirty="0">
                <a:latin typeface="Arial MT"/>
                <a:cs typeface="Arial MT"/>
              </a:rPr>
              <a:t>wild </a:t>
            </a:r>
            <a:r>
              <a:rPr sz="1100" spc="-20" dirty="0">
                <a:latin typeface="Arial MT"/>
                <a:cs typeface="Arial MT"/>
              </a:rPr>
              <a:t>dataset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b="1" spc="-40" dirty="0">
                <a:latin typeface="Arial"/>
                <a:cs typeface="Arial"/>
              </a:rPr>
              <a:t>CK-</a:t>
            </a:r>
            <a:r>
              <a:rPr sz="1100" b="1" spc="-10" dirty="0">
                <a:latin typeface="Arial"/>
                <a:cs typeface="Arial"/>
              </a:rPr>
              <a:t>Extended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Arial MT"/>
                <a:cs typeface="Arial MT"/>
              </a:rPr>
              <a:t>48</a:t>
            </a:r>
            <a:r>
              <a:rPr sz="1100" spc="-45" dirty="0">
                <a:latin typeface="Lucida Sans Unicode"/>
                <a:cs typeface="Lucida Sans Unicode"/>
              </a:rPr>
              <a:t>×</a:t>
            </a:r>
            <a:r>
              <a:rPr sz="1100" spc="-45" dirty="0">
                <a:latin typeface="Arial MT"/>
                <a:cs typeface="Arial MT"/>
              </a:rPr>
              <a:t>48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grayscale</a:t>
            </a:r>
            <a:endParaRPr sz="1100">
              <a:latin typeface="Arial MT"/>
              <a:cs typeface="Arial MT"/>
            </a:endParaRPr>
          </a:p>
          <a:p>
            <a:pPr marL="289560" marR="186690">
              <a:lnSpc>
                <a:spcPct val="125299"/>
              </a:lnSpc>
            </a:pPr>
            <a:r>
              <a:rPr sz="1100" spc="-60" dirty="0">
                <a:latin typeface="Arial MT"/>
                <a:cs typeface="Arial MT"/>
              </a:rPr>
              <a:t>Clean,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controlled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lab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environment </a:t>
            </a:r>
            <a:r>
              <a:rPr sz="1100" dirty="0">
                <a:latin typeface="Arial MT"/>
                <a:cs typeface="Arial MT"/>
              </a:rPr>
              <a:t>8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emotions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(includes</a:t>
            </a:r>
            <a:r>
              <a:rPr sz="1100" spc="-10" dirty="0">
                <a:latin typeface="Arial MT"/>
                <a:cs typeface="Arial MT"/>
              </a:rPr>
              <a:t> contempt)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8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CNN</a:t>
            </a:r>
            <a:r>
              <a:rPr spc="15" dirty="0"/>
              <a:t> </a:t>
            </a:r>
            <a:r>
              <a:rPr spc="-20" dirty="0"/>
              <a:t>Architecture</a:t>
            </a:r>
            <a:r>
              <a:rPr spc="15" dirty="0"/>
              <a:t> </a:t>
            </a:r>
            <a:r>
              <a:rPr spc="-10" dirty="0"/>
              <a:t>for</a:t>
            </a:r>
            <a:r>
              <a:rPr spc="15" dirty="0"/>
              <a:t> </a:t>
            </a:r>
            <a:r>
              <a:rPr spc="-10" dirty="0"/>
              <a:t>FER2013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13383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286152"/>
            <a:ext cx="2792095" cy="838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3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convolutional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blocks:</a:t>
            </a:r>
            <a:r>
              <a:rPr sz="1100" spc="1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64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45" dirty="0">
                <a:latin typeface="Arial MT"/>
                <a:cs typeface="Arial MT"/>
              </a:rPr>
              <a:t>128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45" dirty="0">
                <a:latin typeface="Arial MT"/>
                <a:cs typeface="Arial MT"/>
              </a:rPr>
              <a:t>256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filters Batch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Normalization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MaxPool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Dropout </a:t>
            </a:r>
            <a:r>
              <a:rPr sz="1100" spc="-55" dirty="0">
                <a:latin typeface="Arial MT"/>
                <a:cs typeface="Arial MT"/>
              </a:rPr>
              <a:t>Dense: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512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neurons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Softmax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(7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classes) </a:t>
            </a:r>
            <a:r>
              <a:rPr sz="1100" spc="-45" dirty="0">
                <a:latin typeface="Arial MT"/>
                <a:cs typeface="Arial MT"/>
              </a:rPr>
              <a:t>Accuracy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achieved:</a:t>
            </a:r>
            <a:r>
              <a:rPr sz="1100" spc="80" dirty="0">
                <a:latin typeface="Arial MT"/>
                <a:cs typeface="Arial MT"/>
              </a:rPr>
              <a:t> </a:t>
            </a:r>
            <a:r>
              <a:rPr lang="en-IN" sz="1100" dirty="0"/>
              <a:t>65.01 %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23415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33448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43480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6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HOG</a:t>
            </a:r>
            <a:r>
              <a:rPr spc="5" dirty="0"/>
              <a:t> </a:t>
            </a:r>
            <a:r>
              <a:rPr spc="-35" dirty="0"/>
              <a:t>Feature</a:t>
            </a:r>
            <a:r>
              <a:rPr spc="15" dirty="0"/>
              <a:t> </a:t>
            </a:r>
            <a:r>
              <a:rPr spc="-10" dirty="0"/>
              <a:t>Extraction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313180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02968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0865" y="1692770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0865" y="1844611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1996440"/>
            <a:ext cx="52590" cy="525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2932" y="1206193"/>
            <a:ext cx="2493010" cy="1096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199"/>
              </a:lnSpc>
              <a:spcBef>
                <a:spcPts val="100"/>
              </a:spcBef>
            </a:pPr>
            <a:r>
              <a:rPr sz="1100" spc="-55" dirty="0">
                <a:latin typeface="Arial MT"/>
                <a:cs typeface="Arial MT"/>
              </a:rPr>
              <a:t>Computes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histogram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 </a:t>
            </a:r>
            <a:r>
              <a:rPr sz="1100" spc="-40" dirty="0">
                <a:latin typeface="Arial MT"/>
                <a:cs typeface="Arial MT"/>
              </a:rPr>
              <a:t>oriented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gradients. </a:t>
            </a:r>
            <a:r>
              <a:rPr sz="1100" spc="-10" dirty="0">
                <a:latin typeface="Arial MT"/>
                <a:cs typeface="Arial MT"/>
              </a:rPr>
              <a:t>Captures:</a:t>
            </a:r>
            <a:endParaRPr sz="1100">
              <a:latin typeface="Arial MT"/>
              <a:cs typeface="Arial MT"/>
            </a:endParaRPr>
          </a:p>
          <a:p>
            <a:pPr marL="289560" marR="1344930">
              <a:lnSpc>
                <a:spcPct val="100000"/>
              </a:lnSpc>
              <a:spcBef>
                <a:spcPts val="175"/>
              </a:spcBef>
            </a:pPr>
            <a:r>
              <a:rPr sz="1000" spc="-10" dirty="0">
                <a:latin typeface="Arial MT"/>
                <a:cs typeface="Arial MT"/>
              </a:rPr>
              <a:t>facial</a:t>
            </a:r>
            <a:r>
              <a:rPr sz="1000" spc="-5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edges </a:t>
            </a:r>
            <a:r>
              <a:rPr sz="1000" spc="-60" dirty="0">
                <a:latin typeface="Arial MT"/>
                <a:cs typeface="Arial MT"/>
              </a:rPr>
              <a:t>muscle</a:t>
            </a:r>
            <a:r>
              <a:rPr sz="1000" spc="30" dirty="0">
                <a:latin typeface="Arial MT"/>
                <a:cs typeface="Arial MT"/>
              </a:rPr>
              <a:t> </a:t>
            </a:r>
            <a:r>
              <a:rPr sz="1000" spc="-40" dirty="0">
                <a:latin typeface="Arial MT"/>
                <a:cs typeface="Arial MT"/>
              </a:rPr>
              <a:t>contours</a:t>
            </a:r>
            <a:endParaRPr sz="1000">
              <a:latin typeface="Arial MT"/>
              <a:cs typeface="Arial MT"/>
            </a:endParaRPr>
          </a:p>
          <a:p>
            <a:pPr marL="289560">
              <a:lnSpc>
                <a:spcPts val="1190"/>
              </a:lnSpc>
            </a:pPr>
            <a:r>
              <a:rPr sz="1000" spc="-30" dirty="0">
                <a:latin typeface="Arial MT"/>
                <a:cs typeface="Arial MT"/>
              </a:rPr>
              <a:t>eyebrow/eye/mouth</a:t>
            </a:r>
            <a:r>
              <a:rPr sz="1000" spc="9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shapes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100" spc="-50" dirty="0">
                <a:latin typeface="Arial MT"/>
                <a:cs typeface="Arial MT"/>
              </a:rPr>
              <a:t>Works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exceptionally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well</a:t>
            </a:r>
            <a:r>
              <a:rPr sz="1100" dirty="0">
                <a:latin typeface="Arial MT"/>
                <a:cs typeface="Arial MT"/>
              </a:rPr>
              <a:t> for </a:t>
            </a:r>
            <a:r>
              <a:rPr sz="1100" spc="-60" dirty="0">
                <a:latin typeface="Arial MT"/>
                <a:cs typeface="Arial MT"/>
              </a:rPr>
              <a:t>CK-</a:t>
            </a:r>
            <a:r>
              <a:rPr sz="1100" spc="-25" dirty="0">
                <a:latin typeface="Arial MT"/>
                <a:cs typeface="Arial MT"/>
              </a:rPr>
              <a:t>Extended.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089" y="2193798"/>
            <a:ext cx="65265" cy="65265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8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8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122E11-1E04-48CB-4523-846E5FE43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736921"/>
            <a:ext cx="2076450" cy="1986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513C4-0C4E-3CEC-81A2-27F4C994E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663575"/>
            <a:ext cx="2514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6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SIFT</a:t>
            </a:r>
            <a:r>
              <a:rPr spc="15" dirty="0"/>
              <a:t> </a:t>
            </a:r>
            <a:r>
              <a:rPr spc="-35" dirty="0"/>
              <a:t>Feature</a:t>
            </a:r>
            <a:r>
              <a:rPr spc="20" dirty="0"/>
              <a:t> </a:t>
            </a:r>
            <a:r>
              <a:rPr spc="-10" dirty="0"/>
              <a:t>Extraction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97393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370175"/>
            <a:ext cx="316928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spc="-30" dirty="0">
                <a:latin typeface="Arial MT"/>
                <a:cs typeface="Arial MT"/>
              </a:rPr>
              <a:t>Detects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local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keypoints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creates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128-</a:t>
            </a:r>
            <a:r>
              <a:rPr sz="1100" dirty="0">
                <a:latin typeface="Arial MT"/>
                <a:cs typeface="Arial MT"/>
              </a:rPr>
              <a:t>D </a:t>
            </a:r>
            <a:r>
              <a:rPr sz="1100" spc="-40" dirty="0">
                <a:latin typeface="Arial MT"/>
                <a:cs typeface="Arial MT"/>
              </a:rPr>
              <a:t>descriptors. Robust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rotation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and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scale.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10" dirty="0">
                <a:latin typeface="Arial MT"/>
                <a:cs typeface="Arial MT"/>
              </a:rPr>
              <a:t>Slightly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sensitive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low-</a:t>
            </a:r>
            <a:r>
              <a:rPr sz="1100" spc="-35" dirty="0">
                <a:latin typeface="Arial MT"/>
                <a:cs typeface="Arial MT"/>
              </a:rPr>
              <a:t>res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75" dirty="0">
                <a:latin typeface="Arial MT"/>
                <a:cs typeface="Arial MT"/>
              </a:rPr>
              <a:t>grayscale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images.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07426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17458"/>
            <a:ext cx="65265" cy="65265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5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5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D29F31-C474-BA0C-FD50-6D245DD98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775"/>
            <a:ext cx="2533650" cy="22471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67CDE3-EDD7-89C7-1905-9CCC182A8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0" y="663575"/>
            <a:ext cx="222885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5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Hybrid </a:t>
            </a:r>
            <a:r>
              <a:rPr spc="-10" dirty="0"/>
              <a:t>Models:</a:t>
            </a:r>
            <a:r>
              <a:rPr spc="120" dirty="0"/>
              <a:t> </a:t>
            </a:r>
            <a:r>
              <a:rPr dirty="0"/>
              <a:t>HOG-CNN</a:t>
            </a:r>
            <a:r>
              <a:rPr spc="-15" dirty="0"/>
              <a:t> </a:t>
            </a:r>
            <a:r>
              <a:rPr spc="-30" dirty="0"/>
              <a:t>and</a:t>
            </a:r>
            <a:r>
              <a:rPr spc="-20" dirty="0"/>
              <a:t> </a:t>
            </a:r>
            <a:r>
              <a:rPr dirty="0"/>
              <a:t>SIFT-</a:t>
            </a:r>
            <a:r>
              <a:rPr spc="-25" dirty="0"/>
              <a:t>CNN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13383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86152"/>
            <a:ext cx="345059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Extract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handcrafted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features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15" dirty="0">
                <a:latin typeface="Lucida Sans Unicode"/>
                <a:cs typeface="Lucida Sans Unicode"/>
              </a:rPr>
              <a:t> </a:t>
            </a:r>
            <a:r>
              <a:rPr sz="1100" spc="-80" dirty="0">
                <a:latin typeface="Arial MT"/>
                <a:cs typeface="Arial MT"/>
              </a:rPr>
              <a:t>reshape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Arial MT"/>
                <a:cs typeface="Arial MT"/>
              </a:rPr>
              <a:t>feed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CNN. CNN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0" dirty="0">
                <a:latin typeface="Arial MT"/>
                <a:cs typeface="Arial MT"/>
              </a:rPr>
              <a:t>processes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feature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maps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instead</a:t>
            </a:r>
            <a:r>
              <a:rPr sz="1100" dirty="0">
                <a:latin typeface="Arial MT"/>
                <a:cs typeface="Arial MT"/>
              </a:rPr>
              <a:t> of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raw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images.</a:t>
            </a:r>
            <a:endParaRPr sz="1100">
              <a:latin typeface="Arial MT"/>
              <a:cs typeface="Arial MT"/>
            </a:endParaRPr>
          </a:p>
          <a:p>
            <a:pPr marL="12700" marR="857885">
              <a:lnSpc>
                <a:spcPct val="125299"/>
              </a:lnSpc>
            </a:pPr>
            <a:r>
              <a:rPr sz="1100" spc="-45" dirty="0">
                <a:latin typeface="Arial MT"/>
                <a:cs typeface="Arial MT"/>
              </a:rPr>
              <a:t>Prevents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overfitting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small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CK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dataset. </a:t>
            </a:r>
            <a:r>
              <a:rPr sz="1100" spc="-60" dirty="0">
                <a:latin typeface="Arial MT"/>
                <a:cs typeface="Arial MT"/>
              </a:rPr>
              <a:t>HOG-</a:t>
            </a:r>
            <a:r>
              <a:rPr sz="1100" spc="-20" dirty="0">
                <a:latin typeface="Arial MT"/>
                <a:cs typeface="Arial MT"/>
              </a:rPr>
              <a:t>CNN </a:t>
            </a:r>
            <a:r>
              <a:rPr sz="1100" spc="-45" dirty="0">
                <a:latin typeface="Arial MT"/>
                <a:cs typeface="Arial MT"/>
              </a:rPr>
              <a:t>performs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best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project.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2341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3344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43480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6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BD5084-94FC-9771-624E-BFCE25AF0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30" y="740568"/>
            <a:ext cx="2209800" cy="1979613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8408A295-EDEF-4460-DFE9-DDEFA21C5C0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2650" y="15779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ABC07E-55A2-743F-FBB0-3AE386029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6731" y="951322"/>
            <a:ext cx="1568520" cy="167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44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99895"/>
            <a:ext cx="35509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CC0000"/>
                </a:solidFill>
                <a:latin typeface="Tahoma"/>
                <a:cs typeface="Tahoma"/>
              </a:rPr>
              <a:t>Results</a:t>
            </a:r>
            <a:r>
              <a:rPr sz="1400" spc="-7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CC0000"/>
                </a:solidFill>
                <a:latin typeface="Tahoma"/>
                <a:cs typeface="Tahoma"/>
              </a:rPr>
              <a:t>Comparison</a:t>
            </a:r>
            <a:r>
              <a:rPr sz="1400" spc="-6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CC0000"/>
                </a:solidFill>
                <a:latin typeface="Tahoma"/>
                <a:cs typeface="Tahoma"/>
              </a:rPr>
              <a:t>(Based</a:t>
            </a:r>
            <a:r>
              <a:rPr sz="1400" spc="-6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C0000"/>
                </a:solidFill>
                <a:latin typeface="Tahoma"/>
                <a:cs typeface="Tahoma"/>
              </a:rPr>
              <a:t>on</a:t>
            </a:r>
            <a:r>
              <a:rPr sz="1400" spc="-6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CC0000"/>
                </a:solidFill>
                <a:latin typeface="Tahoma"/>
                <a:cs typeface="Tahoma"/>
              </a:rPr>
              <a:t>Project</a:t>
            </a:r>
            <a:r>
              <a:rPr sz="1400" spc="-6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CC0000"/>
                </a:solidFill>
                <a:latin typeface="Tahoma"/>
                <a:cs typeface="Tahoma"/>
              </a:rPr>
              <a:t>Output)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153145"/>
              </p:ext>
            </p:extLst>
          </p:nvPr>
        </p:nvGraphicFramePr>
        <p:xfrm>
          <a:off x="381469" y="1384668"/>
          <a:ext cx="3844924" cy="696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75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1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Model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Dataset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Accuracy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Notes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CNN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10" dirty="0">
                          <a:latin typeface="Arial MT"/>
                          <a:cs typeface="Arial MT"/>
                        </a:rPr>
                        <a:t>FER2013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lang="en-IN" sz="1100" spc="-10" dirty="0">
                          <a:latin typeface="Arial MT"/>
                          <a:cs typeface="Arial MT"/>
                        </a:rPr>
                        <a:t>65.01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%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Arial MT"/>
                          <a:cs typeface="Arial MT"/>
                        </a:rPr>
                        <a:t>Noisy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dataset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60" dirty="0">
                          <a:latin typeface="Arial MT"/>
                          <a:cs typeface="Arial MT"/>
                        </a:rPr>
                        <a:t>HOG-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CNN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65" dirty="0">
                          <a:latin typeface="Arial MT"/>
                          <a:cs typeface="Arial MT"/>
                        </a:rPr>
                        <a:t>CK-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Extended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175"/>
                        </a:lnSpc>
                      </a:pPr>
                      <a:r>
                        <a:rPr lang="en-IN" sz="1100" spc="-10" dirty="0">
                          <a:latin typeface="Arial MT"/>
                          <a:cs typeface="Arial MT"/>
                        </a:rPr>
                        <a:t>70.21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%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175"/>
                        </a:lnSpc>
                      </a:pPr>
                      <a:r>
                        <a:rPr sz="1100" spc="-25" dirty="0">
                          <a:latin typeface="Arial MT"/>
                          <a:cs typeface="Arial MT"/>
                        </a:rPr>
                        <a:t>Best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35" dirty="0">
                          <a:latin typeface="Arial MT"/>
                          <a:cs typeface="Arial MT"/>
                        </a:rPr>
                        <a:t>performing</a:t>
                      </a:r>
                      <a:r>
                        <a:rPr sz="11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20" dirty="0">
                          <a:latin typeface="Arial MT"/>
                          <a:cs typeface="Arial MT"/>
                        </a:rPr>
                        <a:t>model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marL="75565">
                        <a:lnSpc>
                          <a:spcPts val="1175"/>
                        </a:lnSpc>
                      </a:pPr>
                      <a:r>
                        <a:rPr sz="1100" spc="-40" dirty="0">
                          <a:latin typeface="Arial MT"/>
                          <a:cs typeface="Arial MT"/>
                        </a:rPr>
                        <a:t>SIFT-</a:t>
                      </a:r>
                      <a:r>
                        <a:rPr sz="1100" spc="-25" dirty="0">
                          <a:latin typeface="Arial MT"/>
                          <a:cs typeface="Arial MT"/>
                        </a:rPr>
                        <a:t>CNN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65" dirty="0">
                          <a:latin typeface="Arial MT"/>
                          <a:cs typeface="Arial MT"/>
                        </a:rPr>
                        <a:t>CK-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Extended</a:t>
                      </a:r>
                      <a:endParaRPr sz="11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lang="en-IN" sz="1100" spc="-10" dirty="0">
                          <a:latin typeface="Arial MT"/>
                          <a:cs typeface="Arial MT"/>
                        </a:rPr>
                        <a:t>66.24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%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20" dirty="0">
                          <a:latin typeface="Arial MT"/>
                          <a:cs typeface="Arial MT"/>
                        </a:rPr>
                        <a:t>Keypoint</a:t>
                      </a:r>
                      <a:r>
                        <a:rPr sz="11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100" spc="-10" dirty="0">
                          <a:latin typeface="Arial MT"/>
                          <a:cs typeface="Arial MT"/>
                        </a:rPr>
                        <a:t>dependent</a:t>
                      </a:r>
                      <a:endParaRPr sz="11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2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5" dirty="0"/>
              <a:t>Observations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413383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286152"/>
            <a:ext cx="3943350" cy="866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44525">
              <a:lnSpc>
                <a:spcPct val="125299"/>
              </a:lnSpc>
              <a:spcBef>
                <a:spcPts val="100"/>
              </a:spcBef>
            </a:pPr>
            <a:r>
              <a:rPr sz="1100" spc="-20" dirty="0">
                <a:latin typeface="Arial MT"/>
                <a:cs typeface="Arial MT"/>
              </a:rPr>
              <a:t>CNN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performs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moderately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FER2013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due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10" dirty="0">
                <a:latin typeface="Arial MT"/>
                <a:cs typeface="Arial MT"/>
              </a:rPr>
              <a:t> noise. </a:t>
            </a:r>
            <a:r>
              <a:rPr sz="1100" spc="-60" dirty="0">
                <a:latin typeface="Arial MT"/>
                <a:cs typeface="Arial MT"/>
              </a:rPr>
              <a:t>HOG-</a:t>
            </a:r>
            <a:r>
              <a:rPr sz="1100" spc="-20" dirty="0">
                <a:latin typeface="Arial MT"/>
                <a:cs typeface="Arial MT"/>
              </a:rPr>
              <a:t>CNN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achieves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highest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accuracy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full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pipeline.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spc="-40" dirty="0">
                <a:latin typeface="Arial MT"/>
                <a:cs typeface="Arial MT"/>
              </a:rPr>
              <a:t>SIFT-</a:t>
            </a:r>
            <a:r>
              <a:rPr sz="1100" spc="-10" dirty="0">
                <a:latin typeface="Arial MT"/>
                <a:cs typeface="Arial MT"/>
              </a:rPr>
              <a:t>CNN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strong </a:t>
            </a:r>
            <a:r>
              <a:rPr sz="1100" dirty="0">
                <a:latin typeface="Arial MT"/>
                <a:cs typeface="Arial MT"/>
              </a:rPr>
              <a:t>but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55" dirty="0">
                <a:latin typeface="Arial MT"/>
                <a:cs typeface="Arial MT"/>
              </a:rPr>
              <a:t>dependent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detectable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keypoints.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20" dirty="0">
                <a:latin typeface="Arial MT"/>
                <a:cs typeface="Arial MT"/>
              </a:rPr>
              <a:t>Hybrid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handcrafted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CNN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65" dirty="0">
                <a:latin typeface="Arial MT"/>
                <a:cs typeface="Arial MT"/>
              </a:rPr>
              <a:t>approach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is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effective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small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datasets.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23415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833448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2043480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6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6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40017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30096"/>
            <a:ext cx="65265" cy="6526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440129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650161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089" y="1839950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0865" y="2029764"/>
            <a:ext cx="52590" cy="525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0865" y="2181593"/>
            <a:ext cx="52590" cy="5259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70865" y="2333421"/>
            <a:ext cx="52590" cy="5259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02932" y="1102866"/>
            <a:ext cx="3670935" cy="13239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65" dirty="0">
                <a:latin typeface="Arial MT"/>
                <a:cs typeface="Arial MT"/>
              </a:rPr>
              <a:t>FER2013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benefits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deep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CNNs.</a:t>
            </a:r>
            <a:endParaRPr sz="1100">
              <a:latin typeface="Arial MT"/>
              <a:cs typeface="Arial MT"/>
            </a:endParaRPr>
          </a:p>
          <a:p>
            <a:pPr marL="12700" marR="5080">
              <a:lnSpc>
                <a:spcPct val="125299"/>
              </a:lnSpc>
            </a:pPr>
            <a:r>
              <a:rPr sz="1100" spc="-65" dirty="0">
                <a:latin typeface="Arial MT"/>
                <a:cs typeface="Arial MT"/>
              </a:rPr>
              <a:t>CK-</a:t>
            </a:r>
            <a:r>
              <a:rPr sz="1100" spc="-45" dirty="0">
                <a:latin typeface="Arial MT"/>
                <a:cs typeface="Arial MT"/>
              </a:rPr>
              <a:t>Extended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5" dirty="0">
                <a:latin typeface="Arial MT"/>
                <a:cs typeface="Arial MT"/>
              </a:rPr>
              <a:t>benefits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HOG/SIFT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200" dirty="0">
                <a:latin typeface="Arial MT"/>
                <a:cs typeface="Arial MT"/>
              </a:rPr>
              <a:t>+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CNN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hybrid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models. </a:t>
            </a:r>
            <a:r>
              <a:rPr sz="1100" spc="-45" dirty="0">
                <a:latin typeface="Arial MT"/>
                <a:cs typeface="Arial MT"/>
              </a:rPr>
              <a:t>HOG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most </a:t>
            </a:r>
            <a:r>
              <a:rPr sz="1100" spc="-40" dirty="0">
                <a:latin typeface="Arial MT"/>
                <a:cs typeface="Arial MT"/>
              </a:rPr>
              <a:t>reliable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handcrafted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feature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project.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100" spc="-25" dirty="0">
                <a:latin typeface="Arial MT"/>
                <a:cs typeface="Arial MT"/>
              </a:rPr>
              <a:t>Future</a:t>
            </a:r>
            <a:r>
              <a:rPr sz="1100" spc="-20" dirty="0">
                <a:latin typeface="Arial MT"/>
                <a:cs typeface="Arial MT"/>
              </a:rPr>
              <a:t> work:</a:t>
            </a:r>
            <a:endParaRPr sz="1100">
              <a:latin typeface="Arial MT"/>
              <a:cs typeface="Arial MT"/>
            </a:endParaRPr>
          </a:p>
          <a:p>
            <a:pPr marL="289560" marR="1870710">
              <a:lnSpc>
                <a:spcPct val="100000"/>
              </a:lnSpc>
              <a:spcBef>
                <a:spcPts val="175"/>
              </a:spcBef>
            </a:pPr>
            <a:r>
              <a:rPr sz="1000" spc="-30" dirty="0">
                <a:latin typeface="Arial MT"/>
                <a:cs typeface="Arial MT"/>
              </a:rPr>
              <a:t>Attention-</a:t>
            </a:r>
            <a:r>
              <a:rPr sz="1000" spc="-10" dirty="0">
                <a:latin typeface="Arial MT"/>
                <a:cs typeface="Arial MT"/>
              </a:rPr>
              <a:t>based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CNNs Vision</a:t>
            </a:r>
            <a:r>
              <a:rPr sz="1000" spc="-10" dirty="0">
                <a:latin typeface="Arial MT"/>
                <a:cs typeface="Arial MT"/>
              </a:rPr>
              <a:t> </a:t>
            </a:r>
            <a:r>
              <a:rPr sz="1000" spc="-45" dirty="0">
                <a:latin typeface="Arial MT"/>
                <a:cs typeface="Arial MT"/>
              </a:rPr>
              <a:t>Transformers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for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60" dirty="0">
                <a:latin typeface="Arial MT"/>
                <a:cs typeface="Arial MT"/>
              </a:rPr>
              <a:t>FER</a:t>
            </a:r>
            <a:endParaRPr sz="1000">
              <a:latin typeface="Arial MT"/>
              <a:cs typeface="Arial MT"/>
            </a:endParaRPr>
          </a:p>
          <a:p>
            <a:pPr marL="289560">
              <a:lnSpc>
                <a:spcPts val="1190"/>
              </a:lnSpc>
            </a:pPr>
            <a:r>
              <a:rPr sz="1000" spc="-40" dirty="0">
                <a:latin typeface="Arial MT"/>
                <a:cs typeface="Arial MT"/>
              </a:rPr>
              <a:t>Fusion</a:t>
            </a:r>
            <a:r>
              <a:rPr sz="1000" dirty="0">
                <a:latin typeface="Arial MT"/>
                <a:cs typeface="Arial MT"/>
              </a:rPr>
              <a:t> of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25" dirty="0">
                <a:latin typeface="Arial MT"/>
                <a:cs typeface="Arial MT"/>
              </a:rPr>
              <a:t>audio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180" dirty="0">
                <a:latin typeface="Arial MT"/>
                <a:cs typeface="Arial MT"/>
              </a:rPr>
              <a:t>+</a:t>
            </a:r>
            <a:r>
              <a:rPr sz="1000" spc="-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facial</a:t>
            </a:r>
            <a:r>
              <a:rPr sz="100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expressions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9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9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62480" y="1302548"/>
            <a:ext cx="148336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70" dirty="0">
                <a:solidFill>
                  <a:srgbClr val="000000"/>
                </a:solidFill>
              </a:rPr>
              <a:t>Thank</a:t>
            </a:r>
            <a:r>
              <a:rPr sz="2450" spc="-110" dirty="0">
                <a:solidFill>
                  <a:srgbClr val="000000"/>
                </a:solidFill>
              </a:rPr>
              <a:t> </a:t>
            </a:r>
            <a:r>
              <a:rPr sz="2450" spc="-95" dirty="0">
                <a:solidFill>
                  <a:srgbClr val="000000"/>
                </a:solidFill>
              </a:rPr>
              <a:t>You!</a:t>
            </a:r>
            <a:endParaRPr sz="2450"/>
          </a:p>
        </p:txBody>
      </p:sp>
      <p:grpSp>
        <p:nvGrpSpPr>
          <p:cNvPr id="3" name="object 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4" name="object 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23297" y="3364484"/>
            <a:ext cx="782955" cy="76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75"/>
              </a:lnSpc>
            </a:pP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G-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</a:t>
            </a:r>
            <a:r>
              <a:rPr sz="600" spc="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and</a:t>
            </a:r>
            <a:r>
              <a:rPr sz="600" spc="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SIFT-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63" y="3351784"/>
            <a:ext cx="301307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Kartik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F2F2F2"/>
                </a:solidFill>
                <a:latin typeface="Arial MT"/>
                <a:cs typeface="Arial MT"/>
              </a:rPr>
              <a:t>Srivastava</a:t>
            </a:r>
            <a:r>
              <a:rPr sz="600" spc="28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(MSDSM,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IIM</a:t>
            </a:r>
            <a:r>
              <a:rPr sz="600" spc="65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dirty="0">
                <a:solidFill>
                  <a:srgbClr val="F2F2F2"/>
                </a:solidFill>
                <a:latin typeface="Arial MT"/>
                <a:cs typeface="Arial MT"/>
              </a:rPr>
              <a:t>Amritsar)</a:t>
            </a:r>
            <a:r>
              <a:rPr sz="600" spc="140" dirty="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Facial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Emotion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Recognition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using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CNN,</a:t>
            </a:r>
            <a:r>
              <a:rPr sz="600" spc="6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25" dirty="0">
                <a:solidFill>
                  <a:srgbClr val="8E0000"/>
                </a:solidFill>
                <a:latin typeface="Arial MT"/>
                <a:cs typeface="Arial MT"/>
                <a:hlinkClick r:id="rId2" action="ppaction://hlinksldjump"/>
              </a:rPr>
              <a:t>HO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32314" y="3351784"/>
            <a:ext cx="18732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0" dirty="0">
                <a:solidFill>
                  <a:srgbClr val="7A0000"/>
                </a:solidFill>
                <a:latin typeface="Arial MT"/>
                <a:cs typeface="Arial MT"/>
                <a:hlinkClick r:id="rId2" action="ppaction://hlinksldjump"/>
              </a:rPr>
              <a:t>2025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15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</TotalTime>
  <Words>688</Words>
  <Application>Microsoft Office PowerPoint</Application>
  <PresentationFormat>Custom</PresentationFormat>
  <Paragraphs>114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Arial MT</vt:lpstr>
      <vt:lpstr>Lucida Sans Unicode</vt:lpstr>
      <vt:lpstr>Tahoma</vt:lpstr>
      <vt:lpstr>Office Theme</vt:lpstr>
      <vt:lpstr>Facial Emotion Recognition using CNN, HOG-CNN and SIFT-CNN</vt:lpstr>
      <vt:lpstr>Motivation</vt:lpstr>
      <vt:lpstr>Problem Statement</vt:lpstr>
      <vt:lpstr>Datasets Used</vt:lpstr>
      <vt:lpstr>CNN Architecture for FER2013</vt:lpstr>
      <vt:lpstr>HOG Feature Extraction</vt:lpstr>
      <vt:lpstr>PowerPoint Presentation</vt:lpstr>
      <vt:lpstr>SIFT Feature Extraction</vt:lpstr>
      <vt:lpstr>PowerPoint Presentation</vt:lpstr>
      <vt:lpstr>Hybrid Models: HOG-CNN and SIFT-CNN</vt:lpstr>
      <vt:lpstr>PowerPoint Presentation</vt:lpstr>
      <vt:lpstr>PowerPoint Presentation</vt:lpstr>
      <vt:lpstr>Observations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Facial Emotion Recognition using CNN, HOG-CNN and SIFT-CNN</dc:title>
  <dc:creator>Kartik Srivastava</dc:creator>
  <cp:lastModifiedBy>kartik srivastava</cp:lastModifiedBy>
  <cp:revision>3</cp:revision>
  <dcterms:created xsi:type="dcterms:W3CDTF">2025-12-05T09:41:50Z</dcterms:created>
  <dcterms:modified xsi:type="dcterms:W3CDTF">2025-12-05T18:44:40Z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2025-12-05T00:00:00Z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